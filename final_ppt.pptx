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69" r:id="rId4"/>
    <p:sldId id="274" r:id="rId5"/>
    <p:sldId id="280" r:id="rId6"/>
    <p:sldId id="275" r:id="rId7"/>
    <p:sldId id="276" r:id="rId8"/>
    <p:sldId id="273" r:id="rId9"/>
    <p:sldId id="268" r:id="rId10"/>
    <p:sldId id="272" r:id="rId11"/>
    <p:sldId id="270" r:id="rId12"/>
    <p:sldId id="277" r:id="rId13"/>
    <p:sldId id="278" r:id="rId14"/>
    <p:sldId id="279" r:id="rId15"/>
    <p:sldId id="265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50" autoAdjust="0"/>
    <p:restoredTop sz="94660"/>
  </p:normalViewPr>
  <p:slideViewPr>
    <p:cSldViewPr snapToGrid="0">
      <p:cViewPr>
        <p:scale>
          <a:sx n="89" d="100"/>
          <a:sy n="89" d="100"/>
        </p:scale>
        <p:origin x="-322" y="2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</a:t>
            </a:r>
            <a:r>
              <a:rPr lang="en-GB" sz="240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TITLE</a:t>
            </a:r>
            <a:br>
              <a:rPr lang="en-GB" sz="240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/>
              <a:t>AI-Driven Crop Disease Prediction and Management System</a:t>
            </a:r>
            <a:endParaRPr sz="24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>
                <a:latin typeface="Cambria" panose="02040503050406030204" pitchFamily="18" charset="0"/>
                <a:ea typeface="Cambria" panose="02040503050406030204" pitchFamily="18" charset="0"/>
              </a:rPr>
              <a:t>Batch </a:t>
            </a:r>
            <a:r>
              <a:rPr lang="en-GB" sz="1800" smtClean="0">
                <a:latin typeface="Cambria" panose="02040503050406030204" pitchFamily="18" charset="0"/>
                <a:ea typeface="Cambria" panose="02040503050406030204" pitchFamily="18" charset="0"/>
              </a:rPr>
              <a:t>Number:CSE_39</a:t>
            </a:r>
            <a:endParaRPr sz="18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 Dr .</a:t>
            </a:r>
            <a:r>
              <a:rPr lang="en-GB" sz="1700" b="1" i="0" u="none" strike="noStrike" cap="none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Aarif</a:t>
            </a:r>
            <a:r>
              <a:rPr lang="en-GB" sz="1700" b="1" i="0" u="none" strike="noStrike" cap="none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700" b="1" i="0" u="none" strike="noStrike" cap="none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Ahmed </a:t>
            </a:r>
            <a:r>
              <a:rPr lang="en-GB" sz="1700" b="1" i="0" u="none" strike="noStrike" cap="none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</a:t>
            </a:r>
            <a:r>
              <a:rPr lang="en-GB" sz="1700" b="1" i="0" u="none" strike="noStrike" cap="none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and </a:t>
            </a:r>
            <a:r>
              <a:rPr lang="en-GB" sz="17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Engineering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628103763"/>
              </p:ext>
            </p:extLst>
          </p:nvPr>
        </p:nvGraphicFramePr>
        <p:xfrm>
          <a:off x="467889" y="2513340"/>
          <a:ext cx="5418675" cy="301758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smtClean="0">
                          <a:solidFill>
                            <a:srgbClr val="17365D"/>
                          </a:solidFill>
                        </a:rPr>
                        <a:t>20221CSE0431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smtClean="0">
                          <a:solidFill>
                            <a:srgbClr val="17365D"/>
                          </a:solidFill>
                        </a:rPr>
                        <a:t>20221CSE0722 </a:t>
                      </a: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smtClean="0">
                          <a:solidFill>
                            <a:srgbClr val="17365D"/>
                          </a:solidFill>
                        </a:rPr>
                        <a:t>20221CSE0329 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err="1" smtClean="0">
                          <a:solidFill>
                            <a:srgbClr val="17365D"/>
                          </a:solidFill>
                        </a:rPr>
                        <a:t>Gundluri</a:t>
                      </a:r>
                      <a:r>
                        <a:rPr lang="en-US" sz="1800" b="1" u="none" strike="noStrike" cap="none" baseline="0" smtClean="0">
                          <a:solidFill>
                            <a:srgbClr val="17365D"/>
                          </a:solidFill>
                        </a:rPr>
                        <a:t> </a:t>
                      </a:r>
                      <a:r>
                        <a:rPr lang="en-US" sz="1800" b="1" u="none" strike="noStrike" cap="none" baseline="0" err="1" smtClean="0">
                          <a:solidFill>
                            <a:srgbClr val="17365D"/>
                          </a:solidFill>
                        </a:rPr>
                        <a:t>Gnana</a:t>
                      </a:r>
                      <a:r>
                        <a:rPr lang="en-US" sz="1800" b="1" u="none" strike="noStrike" cap="none" baseline="0" smtClean="0">
                          <a:solidFill>
                            <a:srgbClr val="17365D"/>
                          </a:solidFill>
                        </a:rPr>
                        <a:t> </a:t>
                      </a:r>
                      <a:r>
                        <a:rPr lang="en-US" sz="1800" b="1" u="none" strike="noStrike" cap="none" baseline="0" err="1" smtClean="0">
                          <a:solidFill>
                            <a:srgbClr val="17365D"/>
                          </a:solidFill>
                        </a:rPr>
                        <a:t>Sree</a:t>
                      </a:r>
                      <a:endParaRPr lang="en-US" sz="1800" b="1" u="none" strike="noStrike" cap="none" baseline="0" smtClean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baseline="0" err="1" smtClean="0">
                          <a:solidFill>
                            <a:srgbClr val="17365D"/>
                          </a:solidFill>
                        </a:rPr>
                        <a:t>Soujanya</a:t>
                      </a:r>
                      <a:r>
                        <a:rPr lang="en-US" sz="1800" b="1" u="none" strike="noStrike" cap="none" baseline="0" smtClean="0">
                          <a:solidFill>
                            <a:srgbClr val="17365D"/>
                          </a:solidFill>
                        </a:rPr>
                        <a:t> </a:t>
                      </a:r>
                      <a:r>
                        <a:rPr lang="en-US" sz="1800" b="1" u="none" strike="noStrike" cap="none" baseline="0" err="1" smtClean="0">
                          <a:solidFill>
                            <a:srgbClr val="17365D"/>
                          </a:solidFill>
                        </a:rPr>
                        <a:t>Jambagi</a:t>
                      </a:r>
                      <a:endParaRPr lang="en-US" sz="1800" b="1" u="none" strike="noStrike" cap="none" baseline="0" smtClean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err="1" smtClean="0">
                          <a:solidFill>
                            <a:srgbClr val="17365D"/>
                          </a:solidFill>
                        </a:rPr>
                        <a:t>Mounika</a:t>
                      </a:r>
                      <a:r>
                        <a:rPr lang="en-US" sz="1800" b="1" u="none" strike="noStrike" cap="none" baseline="0" smtClean="0">
                          <a:solidFill>
                            <a:srgbClr val="17365D"/>
                          </a:solidFill>
                        </a:rPr>
                        <a:t> A</a:t>
                      </a:r>
                      <a:endParaRPr lang="en-US" sz="1800" b="1" u="none" strike="noStrike" cap="none" smtClean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Review-5</a:t>
            </a:r>
            <a:endParaRPr sz="1800" b="1" i="0" u="none" strike="noStrike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Computer Science And Engineering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</a:t>
            </a:r>
            <a:r>
              <a:rPr lang="en-US" sz="1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.Blessed Prince</a:t>
            </a:r>
            <a:endParaRPr lang="en-US" sz="1800" b="1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</a:t>
            </a:r>
            <a:r>
              <a:rPr lang="en-US" sz="18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. </a:t>
            </a:r>
            <a:r>
              <a:rPr lang="en-US" sz="1800" b="1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1800" b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Ravi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624792" y="300275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90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  <a:r>
              <a:rPr lang="en-US" sz="2900">
                <a:latin typeface="Cambria" panose="02040503050406030204" pitchFamily="18" charset="0"/>
                <a:ea typeface="Cambria" panose="02040503050406030204" pitchFamily="18" charset="0"/>
              </a:rPr>
              <a:t>or Novel Contributions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900" err="1" smtClean="0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  <a:endParaRPr lang="en-US" sz="29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</a:t>
            </a: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  <a:endParaRPr lang="en-US" sz="290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900" smtClean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PSCS_282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60576" y="1042587"/>
            <a:ext cx="10720224" cy="505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spcBef>
                <a:spcPts val="0"/>
              </a:spcBef>
              <a:buFont typeface="Wingdings" pitchFamily="2" charset="2"/>
              <a:buChar char="Ø"/>
            </a:pPr>
            <a:r>
              <a:rPr lang="en-US" sz="2000" b="1" smtClean="0">
                <a:latin typeface="Cambria" panose="02040503050406030204" pitchFamily="18" charset="0"/>
                <a:ea typeface="Cambria" panose="02040503050406030204" pitchFamily="18" charset="0"/>
              </a:rPr>
              <a:t>Organization</a:t>
            </a:r>
            <a:r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Ministry of Agriculture and Farmers Welfare</a:t>
            </a:r>
            <a:endParaRPr lang="en-US" sz="180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sz="2000" b="1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sz="2000" b="1" smtClean="0">
                <a:latin typeface="Cambria" panose="02040503050406030204" pitchFamily="18" charset="0"/>
                <a:ea typeface="Cambria" panose="02040503050406030204" pitchFamily="18" charset="0"/>
              </a:rPr>
              <a:t>(Hardware / Software / Both</a:t>
            </a:r>
            <a:r>
              <a:rPr lang="en-US" sz="2000" b="1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1800" smtClean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sz="2000" b="1">
                <a:latin typeface="Cambria" panose="02040503050406030204" pitchFamily="18" charset="0"/>
                <a:ea typeface="Cambria" panose="02040503050406030204" pitchFamily="18" charset="0"/>
              </a:rPr>
              <a:t>Problem Description</a:t>
            </a:r>
            <a:r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800" smtClean="0">
                <a:latin typeface="Cambria" panose="02040503050406030204" pitchFamily="18" charset="0"/>
                <a:ea typeface="Cambria" panose="02040503050406030204" pitchFamily="18" charset="0"/>
              </a:rPr>
              <a:t>Farmers </a:t>
            </a: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often struggle to identify crop diseases early, leading to delayed </a:t>
            </a:r>
            <a:r>
              <a:rPr lang="en-US" sz="200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treatment and reduced yields. Manual diagnosis is slow, error-prone, and inaccessible in many rural areas. This project aims to build an AI-powered system that detects crop diseases from leaf images, predicts risk using environmental data, and provides timely treatment recommendations—all through a simple mobile/web interface.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06751" y="982767"/>
            <a:ext cx="11049712" cy="501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1.Develop 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an Automated Leaf Disease Detection System</a:t>
            </a:r>
          </a:p>
          <a:p>
            <a:pPr marL="76200" indent="0"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Build and train a deep-learning model using leaf images to classify crops as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healthy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or identify specific diseases with high accuracy.</a:t>
            </a:r>
          </a:p>
          <a:p>
            <a:pPr marL="76200" indent="0">
              <a:buNone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2. Improve Prediction Accuracy Through Data Preprocessing &amp; Augmentation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Enhance model performance by applying image preprocessing steps such as resizing, normalization, and augmentation (rotation, flip, brightness variation) to handle limited datasets.</a:t>
            </a:r>
          </a:p>
          <a:p>
            <a:pPr marL="76200" indent="0">
              <a:buNone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3. Deploy a Practical, Farmer-Friendly Prediction Platform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Create a simple web application where users can upload leaf images and instantly receive disease predictions along with model confidence scores.</a:t>
            </a:r>
          </a:p>
          <a:p>
            <a:pPr marL="76200" indent="0">
              <a:buNone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4. Integrate Backend Model Serving With Flask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Implement a Flask backend that loads the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trained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model.</a:t>
            </a:r>
            <a:endParaRPr lang="en-US" b="1" smtClean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 algn="just">
              <a:buNone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Enable Real-Time Decision Support With Treatment Suggestions</a:t>
            </a:r>
          </a:p>
          <a:p>
            <a:pPr algn="just"/>
            <a:r>
              <a:rPr lang="en-US" sz="2000">
                <a:latin typeface="Times New Roman" pitchFamily="18" charset="0"/>
                <a:cs typeface="Times New Roman" pitchFamily="18" charset="0"/>
              </a:rPr>
              <a:t>Provide basic, actionable recommendations for identified diseases (e.g., suitable pesticides/fertilizers, preventive measures) directly inside the application.</a:t>
            </a:r>
          </a:p>
          <a:p>
            <a:pPr marL="76200" indent="0" algn="just"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6. Build an Accurate and Efficient System Suitable for Low-Resource Use Cases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  Optimize the model and interface so farmers with low-end devices or limited connectivity can still use the system easily      and reliably.</a:t>
            </a:r>
          </a:p>
          <a:p>
            <a:pPr marL="76200" indent="0" algn="just">
              <a:buNone/>
            </a:pPr>
            <a:r>
              <a:rPr lang="en-US" sz="2000" b="1">
                <a:latin typeface="Times New Roman" pitchFamily="18" charset="0"/>
                <a:cs typeface="Times New Roman" pitchFamily="18" charset="0"/>
              </a:rPr>
              <a:t>7. Lay the Foundation for Future Multi-Crop &amp; Multi-Disease Extension</a:t>
            </a:r>
          </a:p>
          <a:p>
            <a:pPr algn="just"/>
            <a:r>
              <a:rPr lang="en-US" sz="2000">
                <a:latin typeface="Times New Roman" pitchFamily="18" charset="0"/>
                <a:cs typeface="Times New Roman" pitchFamily="18" charset="0"/>
              </a:rPr>
              <a:t>Design the architecture in a modular manner, allowing future expansion to support additional crops, diseases, and risk forecasting features.</a:t>
            </a:r>
          </a:p>
          <a:p>
            <a:pPr marL="152400" indent="0" algn="just">
              <a:lnSpc>
                <a:spcPct val="200000"/>
              </a:lnSpc>
              <a:spcBef>
                <a:spcPts val="0"/>
              </a:spcBef>
              <a:buNone/>
            </a:pPr>
            <a:endParaRPr lang="en-US" b="1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algn="just"/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98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Background and Related Work: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Crop diseases are a major threat to agricultural productivity, especially in regions with limited access to expert diagnosis.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Traditional detection methods rely on manual inspection, which is slow, subjective, and not scalable.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AI and computer vision offer powerful tools for automating disease identification and management.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Integrating machine learning with mobile/web platforms can provide farmers with real-time insights and actionable recommendations.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The goal is to build a holistic software system that combines image analysis, environmental data, and user-friendly interfaces to support timely and informed decision-making.</a:t>
            </a:r>
          </a:p>
          <a:p>
            <a:pPr marL="76200" indent="0">
              <a:buNone/>
            </a:pPr>
            <a:endParaRPr lang="en-US" sz="1800" b="1"/>
          </a:p>
        </p:txBody>
      </p:sp>
    </p:spTree>
    <p:extLst>
      <p:ext uri="{BB962C8B-B14F-4D97-AF65-F5344CB8AC3E}">
        <p14:creationId xmlns:p14="http://schemas.microsoft.com/office/powerpoint/2010/main" val="3060773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437" y="249000"/>
            <a:ext cx="10668000" cy="487500"/>
          </a:xfrm>
        </p:spPr>
        <p:txBody>
          <a:bodyPr/>
          <a:lstStyle/>
          <a:p>
            <a:r>
              <a:rPr lang="en-US" smtClean="0"/>
              <a:t>Innovation or Novel Contributions: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118" y="965675"/>
            <a:ext cx="10711679" cy="506196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Dual-Mode 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Prediction System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Combines image-based CNN models with environmental/tabular data models (e.g., weather, soil features via </a:t>
            </a:r>
            <a:r>
              <a:rPr lang="en-US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-learn).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Enables more accurate and context-aware disease identification.</a:t>
            </a:r>
          </a:p>
          <a:p>
            <a:pPr>
              <a:buFont typeface="Wingdings" pitchFamily="2" charset="2"/>
              <a:buChar char="Ø"/>
            </a:pP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Early Detection &amp; Decision Support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Empowers farmers with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actionable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Predictions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reducing crop loss and improving yield.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Supports precision agriculture by integrating AI with traditional farming knowledge</a:t>
            </a:r>
          </a:p>
          <a:p>
            <a:pPr>
              <a:buFont typeface="Wingdings" pitchFamily="2" charset="2"/>
              <a:buChar char="Ø"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Cloud-Based Training &amp; Deployment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Uses platforms like Google </a:t>
            </a:r>
            <a:r>
              <a:rPr lang="en-US" err="1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for model training and Flask for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deployment.</a:t>
            </a:r>
          </a:p>
          <a:p>
            <a:pPr>
              <a:buFont typeface="Wingdings" pitchFamily="2" charset="2"/>
              <a:buChar char="Ø"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Farmer-Friendly Web Interface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Offers an intuitive UI for farmers to check crop health without technical knowledge.</a:t>
            </a:r>
            <a:br>
              <a:rPr lang="en-US">
                <a:latin typeface="Times New Roman" pitchFamily="18" charset="0"/>
                <a:cs typeface="Times New Roman" pitchFamily="18" charset="0"/>
              </a:rPr>
            </a:br>
            <a:r>
              <a:rPr lang="en-US">
                <a:latin typeface="Times New Roman" pitchFamily="18" charset="0"/>
                <a:cs typeface="Times New Roman" pitchFamily="18" charset="0"/>
              </a:rPr>
              <a:t>Allows easy access through browser-based interaction for fast decision-making.</a:t>
            </a:r>
          </a:p>
          <a:p>
            <a:pPr marL="762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0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mtClean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1.Frontend:</a:t>
            </a:r>
          </a:p>
          <a:p>
            <a:pP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HTML , CSS,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JavaScript.</a:t>
            </a:r>
            <a:endParaRPr lang="en-US" smtClean="0">
              <a:latin typeface="Times New Roman" pitchFamily="18" charset="0"/>
              <a:cs typeface="Times New Roman" pitchFamily="18" charset="0"/>
            </a:endParaRPr>
          </a:p>
          <a:p>
            <a:pPr marL="76200" indent="0">
              <a:buNone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2.AI/ML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Model</a:t>
            </a:r>
          </a:p>
          <a:p>
            <a:pPr>
              <a:buFont typeface="Wingdings" pitchFamily="2" charset="2"/>
              <a:buChar char="§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Google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Colab,Spyder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– Train and test models in the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err="1" smtClean="0"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– Use CNNs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for image classification</a:t>
            </a:r>
          </a:p>
          <a:p>
            <a:pPr>
              <a:buFont typeface="Wingdings" pitchFamily="2" charset="2"/>
              <a:buChar char="§"/>
            </a:pPr>
            <a:r>
              <a:rPr lang="en-US" err="1" smtClean="0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-learn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– Handle tabular data like weather or soil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features</a:t>
            </a:r>
          </a:p>
          <a:p>
            <a:pPr marL="76200" indent="0">
              <a:buNone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3.Backend:</a:t>
            </a:r>
          </a:p>
          <a:p>
            <a:pPr>
              <a:buFont typeface="Wingdings" pitchFamily="2" charset="2"/>
              <a:buChar char="§"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Flask-Connect frontend to model, handle image uploads and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predictions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3488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https://github.com/Aicropdiseasemanagementandprediction</a:t>
            </a: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of Problem </a:t>
            </a:r>
            <a:r>
              <a:rPr lang="en-US" smtClean="0">
                <a:latin typeface="Cambria" panose="02040503050406030204" pitchFamily="18" charset="0"/>
                <a:ea typeface="Cambria" panose="02040503050406030204" pitchFamily="18" charset="0"/>
              </a:rPr>
              <a:t>Statement 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427290" y="1016950"/>
            <a:ext cx="11053510" cy="5079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 b="1" smtClean="0">
                <a:latin typeface="Cambria" panose="02040503050406030204" pitchFamily="18" charset="0"/>
                <a:ea typeface="Cambria" panose="02040503050406030204" pitchFamily="18" charset="0"/>
              </a:rPr>
              <a:t>Software Requirements and Hardware Requirements: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01056"/>
              </p:ext>
            </p:extLst>
          </p:nvPr>
        </p:nvGraphicFramePr>
        <p:xfrm>
          <a:off x="1410055" y="1717706"/>
          <a:ext cx="8151738" cy="3905425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4075869"/>
                <a:gridCol w="4075869"/>
              </a:tblGrid>
              <a:tr h="781085">
                <a:tc>
                  <a:txBody>
                    <a:bodyPr/>
                    <a:lstStyle/>
                    <a:p>
                      <a:r>
                        <a:rPr lang="en-US" smtClean="0"/>
                        <a:t>Software Requirements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Hardware requirements</a:t>
                      </a:r>
                      <a:endParaRPr lang="en-US"/>
                    </a:p>
                  </a:txBody>
                  <a:tcPr/>
                </a:tc>
              </a:tr>
              <a:tr h="781085">
                <a:tc>
                  <a:txBody>
                    <a:bodyPr/>
                    <a:lstStyle/>
                    <a:p>
                      <a:r>
                        <a:rPr lang="en-US" smtClean="0"/>
                        <a:t>Operating</a:t>
                      </a:r>
                      <a:r>
                        <a:rPr lang="en-US" baseline="0" smtClean="0"/>
                        <a:t> System: Windows 10/Linux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Processor :Intel Core i5 or higher</a:t>
                      </a:r>
                      <a:endParaRPr lang="en-US"/>
                    </a:p>
                  </a:txBody>
                  <a:tcPr/>
                </a:tc>
              </a:tr>
              <a:tr h="781085">
                <a:tc>
                  <a:txBody>
                    <a:bodyPr/>
                    <a:lstStyle/>
                    <a:p>
                      <a:r>
                        <a:rPr lang="en-US" smtClean="0"/>
                        <a:t>IDE:</a:t>
                      </a:r>
                      <a:r>
                        <a:rPr lang="en-US" baseline="0" smtClean="0"/>
                        <a:t> </a:t>
                      </a:r>
                      <a:r>
                        <a:rPr lang="en-US" baseline="0" err="1" smtClean="0"/>
                        <a:t>vscode</a:t>
                      </a:r>
                      <a:r>
                        <a:rPr lang="en-US" baseline="0" smtClean="0"/>
                        <a:t> / </a:t>
                      </a:r>
                      <a:r>
                        <a:rPr lang="en-US" baseline="0" err="1" smtClean="0"/>
                        <a:t>Googlecolab</a:t>
                      </a:r>
                      <a:r>
                        <a:rPr lang="en-US" baseline="0" smtClean="0"/>
                        <a:t> / </a:t>
                      </a:r>
                      <a:r>
                        <a:rPr lang="en-US" baseline="0" err="1" smtClean="0"/>
                        <a:t>Jupyter</a:t>
                      </a:r>
                      <a:r>
                        <a:rPr lang="en-US" baseline="0" smtClean="0"/>
                        <a:t> notebook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Ram:8gb or more</a:t>
                      </a:r>
                      <a:endParaRPr lang="en-US"/>
                    </a:p>
                  </a:txBody>
                  <a:tcPr/>
                </a:tc>
              </a:tr>
              <a:tr h="781085">
                <a:tc>
                  <a:txBody>
                    <a:bodyPr/>
                    <a:lstStyle/>
                    <a:p>
                      <a:r>
                        <a:rPr lang="en-US" smtClean="0"/>
                        <a:t>Database</a:t>
                      </a:r>
                      <a:r>
                        <a:rPr lang="en-US" baseline="0" smtClean="0"/>
                        <a:t> </a:t>
                      </a:r>
                      <a:r>
                        <a:rPr lang="en-US" baseline="0" err="1" smtClean="0"/>
                        <a:t>Tools:Mysql</a:t>
                      </a:r>
                      <a:r>
                        <a:rPr lang="en-US" baseline="0" smtClean="0"/>
                        <a:t> Workbench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Storage:256GB</a:t>
                      </a:r>
                      <a:r>
                        <a:rPr lang="en-US" baseline="0" smtClean="0"/>
                        <a:t> SSD or higher</a:t>
                      </a:r>
                      <a:endParaRPr lang="en-US"/>
                    </a:p>
                  </a:txBody>
                  <a:tcPr/>
                </a:tc>
              </a:tr>
              <a:tr h="781085">
                <a:tc>
                  <a:txBody>
                    <a:bodyPr/>
                    <a:lstStyle/>
                    <a:p>
                      <a:r>
                        <a:rPr lang="en-US" smtClean="0"/>
                        <a:t>Web browsers(chrome/ Firefox)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 smtClean="0"/>
                        <a:t>Internet:Stable</a:t>
                      </a:r>
                      <a:r>
                        <a:rPr lang="en-US" smtClean="0"/>
                        <a:t> Connection(5mbps or more)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21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825" y="1573530"/>
            <a:ext cx="8101413" cy="426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Results :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583" y="1153682"/>
            <a:ext cx="6213045" cy="4307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314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451" y="1697557"/>
            <a:ext cx="8415863" cy="4022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618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452" y="2112962"/>
            <a:ext cx="6853727" cy="3944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39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References (IEEE Paper </a:t>
            </a:r>
            <a:r>
              <a:rPr lang="en-GB" smtClean="0">
                <a:latin typeface="Cambria" panose="02040503050406030204" pitchFamily="18" charset="0"/>
                <a:ea typeface="Cambria" panose="02040503050406030204" pitchFamily="18" charset="0"/>
              </a:rPr>
              <a:t>format)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683664" y="1427147"/>
            <a:ext cx="10797136" cy="387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[1] </a:t>
            </a: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S. R. Prasad, M. K. Reddy, and A. S. </a:t>
            </a:r>
            <a:r>
              <a:rPr lang="en-US" sz="1800" err="1">
                <a:latin typeface="Cambria" panose="02040503050406030204" pitchFamily="18" charset="0"/>
                <a:ea typeface="Cambria" panose="02040503050406030204" pitchFamily="18" charset="0"/>
              </a:rPr>
              <a:t>Rao</a:t>
            </a: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, “Convolutional Neural Networks based Classification and Detection of Plant Disease,” Proc. 2022 Int. Conf. on Computing Methodologies and Communication (ICCMC), pp. 1–6, Mar. 2022. DOI: 10.1109/ICCMC53470.2022.9753846</a:t>
            </a:r>
          </a:p>
          <a:p>
            <a:pPr marL="152400" indent="0">
              <a:spcBef>
                <a:spcPts val="0"/>
              </a:spcBef>
              <a:buNone/>
            </a:pPr>
            <a:endParaRPr lang="en-US" sz="180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[2] V. </a:t>
            </a:r>
            <a:r>
              <a:rPr lang="en-US" sz="1800" err="1">
                <a:latin typeface="Cambria" panose="02040503050406030204" pitchFamily="18" charset="0"/>
                <a:ea typeface="Cambria" panose="02040503050406030204" pitchFamily="18" charset="0"/>
              </a:rPr>
              <a:t>Ivanov</a:t>
            </a: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 , D. </a:t>
            </a:r>
            <a:r>
              <a:rPr lang="en-US" sz="1800" err="1">
                <a:latin typeface="Cambria" panose="02040503050406030204" pitchFamily="18" charset="0"/>
                <a:ea typeface="Cambria" panose="02040503050406030204" pitchFamily="18" charset="0"/>
              </a:rPr>
              <a:t>Petrov</a:t>
            </a: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 , and A. Smirnov, “Building Deep Neural Networks for solving Machine Learning Problems in Agricultural Production,” Proc. 2023 Int. Russian Smart Industry Conf. (</a:t>
            </a:r>
            <a:r>
              <a:rPr lang="en-US" sz="1800" err="1">
                <a:latin typeface="Cambria" panose="02040503050406030204" pitchFamily="18" charset="0"/>
                <a:ea typeface="Cambria" panose="02040503050406030204" pitchFamily="18" charset="0"/>
              </a:rPr>
              <a:t>SmartIndustryCon</a:t>
            </a:r>
            <a:r>
              <a:rPr lang="en-US" sz="1800">
                <a:latin typeface="Cambria" panose="02040503050406030204" pitchFamily="18" charset="0"/>
                <a:ea typeface="Cambria" panose="02040503050406030204" pitchFamily="18" charset="0"/>
              </a:rPr>
              <a:t>), pp. 1–5, Mar. 2023. DOI: 10.1109/SmartIndustryCon57312.2023.10110765</a:t>
            </a:r>
          </a:p>
          <a:p>
            <a:pPr marL="152400" indent="0">
              <a:spcBef>
                <a:spcPts val="0"/>
              </a:spcBef>
              <a:buNone/>
            </a:pPr>
            <a:endParaRPr lang="en-US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</TotalTime>
  <Words>894</Words>
  <Application>Microsoft Office PowerPoint</Application>
  <PresentationFormat>Custom</PresentationFormat>
  <Paragraphs>113</Paragraphs>
  <Slides>16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Bioinformatics</vt:lpstr>
      <vt:lpstr>PROJECT TITLE AI-Driven Crop Disease Prediction and Management System</vt:lpstr>
      <vt:lpstr>Content</vt:lpstr>
      <vt:lpstr>Problem Statement Number: PSCS_282</vt:lpstr>
      <vt:lpstr>Objectives:</vt:lpstr>
      <vt:lpstr>PowerPoint Presentation</vt:lpstr>
      <vt:lpstr>Background and Related Work:</vt:lpstr>
      <vt:lpstr>Innovation or Novel Contributions:</vt:lpstr>
      <vt:lpstr>Technology Stack Components:</vt:lpstr>
      <vt:lpstr>Github Link</vt:lpstr>
      <vt:lpstr>Analysis of Problem Statement </vt:lpstr>
      <vt:lpstr>Timeline of the Project (Gantt Chart)</vt:lpstr>
      <vt:lpstr>Results :</vt:lpstr>
      <vt:lpstr>PowerPoint Presentation</vt:lpstr>
      <vt:lpstr>PowerPoint Presentation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HP</cp:lastModifiedBy>
  <cp:revision>64</cp:revision>
  <dcterms:modified xsi:type="dcterms:W3CDTF">2025-11-27T15:15:39Z</dcterms:modified>
</cp:coreProperties>
</file>